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0527f701d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0527f701d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0527f701d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0527f701d_2_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e0527f701d_2_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0527f701d_2_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8bf48f6ea_0_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d8bf48f6ea_0_6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d8bf48f6ea_0_6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0527f701d_2_1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e0527f701d_2_10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e0527f701d_2_10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87f18f37b_2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d87f18f37b_2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d87f18f37b_2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8046720" y="36576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8412480" y="64008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8778240" y="27432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7863840" y="91440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8229600" y="118872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8595360" y="100584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8961120" y="73152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8046720" y="146304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8412480" y="173736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7772400" y="201168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8778240" y="182880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9052560" y="1371600"/>
            <a:ext cx="54864" cy="54864"/>
          </a:xfrm>
          <a:prstGeom prst="ellipse">
            <a:avLst/>
          </a:prstGeom>
          <a:solidFill>
            <a:srgbClr val="5DCAA5">
              <a:alpha val="40000"/>
            </a:srgbClr>
          </a:solidFill>
          <a:ln cap="flat" cmpd="sng" w="12700">
            <a:solidFill>
              <a:srgbClr val="5DCAA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228600" y="146304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i="0" lang="en" sz="5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Inside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2474297" y="1463040"/>
            <a:ext cx="3200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5400"/>
              <a:buFont typeface="Georgia"/>
              <a:buNone/>
            </a:pPr>
            <a:r>
              <a:rPr b="1" i="0" lang="en" sz="5400" u="none" cap="none" strike="noStrike">
                <a:solidFill>
                  <a:srgbClr val="5DCAA5"/>
                </a:solidFill>
                <a:latin typeface="Georgia"/>
                <a:ea typeface="Georgia"/>
                <a:cs typeface="Georgia"/>
                <a:sym typeface="Georgia"/>
              </a:rPr>
              <a:t>Insight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228600" y="23317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B3C8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9EB3C8"/>
                </a:solidFill>
                <a:latin typeface="Calibri"/>
                <a:ea typeface="Calibri"/>
                <a:cs typeface="Calibri"/>
                <a:sym typeface="Calibri"/>
              </a:rPr>
              <a:t>Strategic Airbnb Optimization via Big Data &amp; Agentic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228600" y="2834640"/>
            <a:ext cx="5029200" cy="0"/>
          </a:xfrm>
          <a:prstGeom prst="straightConnector1">
            <a:avLst/>
          </a:prstGeom>
          <a:noFill/>
          <a:ln cap="flat" cmpd="sng" w="1905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5"/>
          <p:cNvSpPr/>
          <p:nvPr/>
        </p:nvSpPr>
        <p:spPr>
          <a:xfrm>
            <a:off x="228600" y="297180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Team 9  ·  MSBA 6331 Big Data Analytics  ·  Carlson School of Management, University of Minnesota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28600" y="329184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Bhavisha Chafekar  ·  Jyothirmai Sri Peesapati  ·  Phoenix Ferrari  ·  Stephen Weiler  ·  Tzu-Yu Chen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228600" y="3855781"/>
            <a:ext cx="2011800" cy="594300"/>
          </a:xfrm>
          <a:prstGeom prst="rect">
            <a:avLst/>
          </a:prstGeom>
          <a:solidFill>
            <a:srgbClr val="243B5A"/>
          </a:solidFill>
          <a:ln cap="flat" cmpd="sng" w="12700">
            <a:solidFill>
              <a:srgbClr val="2E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301752" y="3874069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5DCAA5"/>
                </a:solidFill>
                <a:latin typeface="Calibri"/>
                <a:ea typeface="Calibri"/>
                <a:cs typeface="Calibri"/>
                <a:sym typeface="Calibri"/>
              </a:rPr>
              <a:t>1,955,039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01752" y="4175821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data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2468880" y="3855781"/>
            <a:ext cx="2011800" cy="594300"/>
          </a:xfrm>
          <a:prstGeom prst="rect">
            <a:avLst/>
          </a:prstGeom>
          <a:solidFill>
            <a:srgbClr val="243B5A"/>
          </a:solidFill>
          <a:ln cap="flat" cmpd="sng" w="12700">
            <a:solidFill>
              <a:srgbClr val="2E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2542032" y="3874069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5DCAA5"/>
                </a:solidFill>
                <a:latin typeface="Calibri"/>
                <a:ea typeface="Calibri"/>
                <a:cs typeface="Calibri"/>
                <a:sym typeface="Calibri"/>
              </a:rPr>
              <a:t>35,957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2542032" y="4175821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listings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709160" y="3855781"/>
            <a:ext cx="2011800" cy="594300"/>
          </a:xfrm>
          <a:prstGeom prst="rect">
            <a:avLst/>
          </a:prstGeom>
          <a:solidFill>
            <a:srgbClr val="243B5A"/>
          </a:solidFill>
          <a:ln cap="flat" cmpd="sng" w="12700">
            <a:solidFill>
              <a:srgbClr val="2E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4782312" y="3874069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5DCAA5"/>
                </a:solidFill>
                <a:latin typeface="Calibri"/>
                <a:ea typeface="Calibri"/>
                <a:cs typeface="Calibri"/>
                <a:sym typeface="Calibri"/>
              </a:rPr>
              <a:t>5 cities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4782312" y="4175821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US markets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6949440" y="3855781"/>
            <a:ext cx="2011800" cy="594300"/>
          </a:xfrm>
          <a:prstGeom prst="rect">
            <a:avLst/>
          </a:prstGeom>
          <a:solidFill>
            <a:srgbClr val="243B5A"/>
          </a:solidFill>
          <a:ln cap="flat" cmpd="sng" w="12700">
            <a:solidFill>
              <a:srgbClr val="2E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7022592" y="3874069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5DCAA5"/>
                </a:solidFill>
                <a:latin typeface="Calibri"/>
                <a:ea typeface="Calibri"/>
                <a:cs typeface="Calibri"/>
                <a:sym typeface="Calibri"/>
              </a:rPr>
              <a:t>50,000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7022592" y="4175821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reviews NLP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182880" y="73152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Inside Insight — End-to-End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6400800" y="10972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Team 9  ·  MSBA 6331  ·  April 24,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64592" y="749808"/>
            <a:ext cx="1572768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164592" y="749808"/>
            <a:ext cx="1572768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237744" y="877824"/>
            <a:ext cx="347472" cy="201168"/>
          </a:xfrm>
          <a:prstGeom prst="rect">
            <a:avLst/>
          </a:prstGeom>
          <a:solidFill>
            <a:srgbClr val="EBF3FB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237744" y="87782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37744" y="113385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ngestion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237744" y="1499616"/>
            <a:ext cx="14264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Inside Airbnb CSV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5 cities · Bronze/Silver/Gold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Delta Lake on Databricks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237744" y="2414016"/>
            <a:ext cx="1426464" cy="594360"/>
          </a:xfrm>
          <a:prstGeom prst="rect">
            <a:avLst/>
          </a:prstGeom>
          <a:solidFill>
            <a:srgbClr val="EBF3FB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256032" y="2432304"/>
            <a:ext cx="1389888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gold_listings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gold_calendar_daily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gold_reviews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6"/>
          <p:cNvCxnSpPr/>
          <p:nvPr/>
        </p:nvCxnSpPr>
        <p:spPr>
          <a:xfrm>
            <a:off x="1773936" y="1938528"/>
            <a:ext cx="128016" cy="0"/>
          </a:xfrm>
          <a:prstGeom prst="straightConnector1">
            <a:avLst/>
          </a:prstGeom>
          <a:noFill/>
          <a:ln cap="flat" cmpd="sng" w="1905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6"/>
          <p:cNvSpPr/>
          <p:nvPr/>
        </p:nvSpPr>
        <p:spPr>
          <a:xfrm>
            <a:off x="1883664" y="1883664"/>
            <a:ext cx="54864" cy="109728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1938528" y="749808"/>
            <a:ext cx="1572768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1938528" y="749808"/>
            <a:ext cx="1572768" cy="54864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2011680" y="877824"/>
            <a:ext cx="347472" cy="201168"/>
          </a:xfrm>
          <a:prstGeom prst="rect">
            <a:avLst/>
          </a:prstGeom>
          <a:solidFill>
            <a:srgbClr val="E1F5EE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2011680" y="87782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2011680" y="113385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Pricing </a:t>
            </a: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nalytics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2011680" y="1499616"/>
            <a:ext cx="14264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IQR outlier detection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90-day rolling occupancy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Competitive score 0–100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2011680" y="2414016"/>
            <a:ext cx="1426464" cy="594360"/>
          </a:xfrm>
          <a:prstGeom prst="rect">
            <a:avLst/>
          </a:prstGeom>
          <a:solidFill>
            <a:srgbClr val="E1F5EE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2029968" y="2432304"/>
            <a:ext cx="1389888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gold_features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1,955,039 rows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16"/>
          <p:cNvCxnSpPr/>
          <p:nvPr/>
        </p:nvCxnSpPr>
        <p:spPr>
          <a:xfrm>
            <a:off x="3547872" y="1938528"/>
            <a:ext cx="128016" cy="0"/>
          </a:xfrm>
          <a:prstGeom prst="straightConnector1">
            <a:avLst/>
          </a:prstGeom>
          <a:noFill/>
          <a:ln cap="flat" cmpd="sng" w="1905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16"/>
          <p:cNvSpPr/>
          <p:nvPr/>
        </p:nvSpPr>
        <p:spPr>
          <a:xfrm>
            <a:off x="3657600" y="1883664"/>
            <a:ext cx="54864" cy="109728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3712464" y="749808"/>
            <a:ext cx="1572768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3712464" y="749808"/>
            <a:ext cx="1572768" cy="54864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3785616" y="877824"/>
            <a:ext cx="347472" cy="201168"/>
          </a:xfrm>
          <a:prstGeom prst="rect">
            <a:avLst/>
          </a:prstGeom>
          <a:solidFill>
            <a:srgbClr val="FEF3DC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3785616" y="87782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785616" y="113385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NLP </a:t>
            </a: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785616" y="1499616"/>
            <a:ext cx="14264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VADER sentiment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7-topic extraction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Top praise + complaint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785616" y="2414016"/>
            <a:ext cx="1426464" cy="594360"/>
          </a:xfrm>
          <a:prstGeom prst="rect">
            <a:avLst/>
          </a:prstGeom>
          <a:solidFill>
            <a:srgbClr val="FEF3DC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3803904" y="2432304"/>
            <a:ext cx="1389888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gold_nlp_features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50,000 reviews scored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6"/>
          <p:cNvCxnSpPr/>
          <p:nvPr/>
        </p:nvCxnSpPr>
        <p:spPr>
          <a:xfrm>
            <a:off x="5321808" y="1938528"/>
            <a:ext cx="128016" cy="0"/>
          </a:xfrm>
          <a:prstGeom prst="straightConnector1">
            <a:avLst/>
          </a:prstGeom>
          <a:noFill/>
          <a:ln cap="flat" cmpd="sng" w="1905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6"/>
          <p:cNvSpPr/>
          <p:nvPr/>
        </p:nvSpPr>
        <p:spPr>
          <a:xfrm>
            <a:off x="5431536" y="1883664"/>
            <a:ext cx="54864" cy="109728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486400" y="749808"/>
            <a:ext cx="1572768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486400" y="749808"/>
            <a:ext cx="1572768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559552" y="877824"/>
            <a:ext cx="347472" cy="201168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559552" y="87782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559552" y="113385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559552" y="1499616"/>
            <a:ext cx="14264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FAISS vector 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LangGraph 3-node pipeline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LLaMA 3.3 70B via Groq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559552" y="2414016"/>
            <a:ext cx="1426464" cy="59436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577840" y="2432304"/>
            <a:ext cx="1389888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action_plan()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Grounded recs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6"/>
          <p:cNvCxnSpPr/>
          <p:nvPr/>
        </p:nvCxnSpPr>
        <p:spPr>
          <a:xfrm>
            <a:off x="7095744" y="1938528"/>
            <a:ext cx="128016" cy="0"/>
          </a:xfrm>
          <a:prstGeom prst="straightConnector1">
            <a:avLst/>
          </a:prstGeom>
          <a:noFill/>
          <a:ln cap="flat" cmpd="sng" w="1905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6"/>
          <p:cNvSpPr/>
          <p:nvPr/>
        </p:nvSpPr>
        <p:spPr>
          <a:xfrm>
            <a:off x="7205472" y="1883664"/>
            <a:ext cx="54864" cy="109728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7260336" y="749808"/>
            <a:ext cx="1572768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7260336" y="749808"/>
            <a:ext cx="1572768" cy="54864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7333488" y="877824"/>
            <a:ext cx="347472" cy="201168"/>
          </a:xfrm>
          <a:prstGeom prst="rect">
            <a:avLst/>
          </a:prstGeom>
          <a:solidFill>
            <a:srgbClr val="E1F5EE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333488" y="87782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333488" y="113385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333488" y="1499616"/>
            <a:ext cx="14264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Streamlit 4 pages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URL lookup · Filters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Live demo app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333488" y="2414016"/>
            <a:ext cx="1426464" cy="594360"/>
          </a:xfrm>
          <a:prstGeom prst="rect">
            <a:avLst/>
          </a:prstGeom>
          <a:solidFill>
            <a:srgbClr val="E1F5EE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7351776" y="2432304"/>
            <a:ext cx="1389888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InsideInsight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Streamlit app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164592" y="3337560"/>
            <a:ext cx="2816352" cy="1572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164592" y="3337560"/>
            <a:ext cx="2816352" cy="45720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256032" y="342900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Key formula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256032" y="3721608"/>
            <a:ext cx="26334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Revenue upside = price gap ($) × occupancy days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Example: $22 gap × 255 days = $5,610/year recoverable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Competitive score = 30% price + 25% amenity + 25% reviews + 20% occupancy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3163824" y="3337560"/>
            <a:ext cx="2816352" cy="1572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3163824" y="3337560"/>
            <a:ext cx="2816352" cy="45720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3255264" y="342900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3255264" y="3721608"/>
            <a:ext cx="26334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Apache Spark · Databricks · Delta Lake · PySpark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VADER Sentiment · SentenceTransformers · FAISS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LangGraph · Groq LLaMA 3.3 70B · Streamlit · Python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163056" y="3337560"/>
            <a:ext cx="2816352" cy="1572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6163056" y="3337560"/>
            <a:ext cx="2816352" cy="457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6254496" y="342900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What makes us different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254496" y="3721608"/>
            <a:ext cx="26334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Grounded AI — every recommendation cites exact stats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Hallucination validator on all agent outputs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1.95M rows on Databricks — not a spreadsheet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Open data (Inside Airbnb CC4.0) — fully reproducible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137160" y="4965192"/>
            <a:ext cx="8869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This project is created in partial fulfillment of the requirements for the Big Data Analytics course, MSBA, Carlson School of Management, University of Minnesota  ·  github.com/stephweil208/big_data_team_9  ·  Data: Inside Airbnb CC BY 4.0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0" y="594360"/>
            <a:ext cx="9144000" cy="36600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82880" y="73152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None/>
            </a:pPr>
            <a:r>
              <a:rPr b="1" lang="en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Pricing Analytics</a:t>
            </a:r>
            <a:endParaRPr b="1" sz="18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429798" y="109725"/>
            <a:ext cx="25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Chicago listing #20406582 · Albany Park · Entire home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0" y="4956048"/>
            <a:ext cx="9144000" cy="2013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137160" y="4965192"/>
            <a:ext cx="8869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This project is created in partial fulfillment of the requirements for the Big Data Analytics course, MSBA, Carlson School of Management, University of Minnesota  ·  github.com/stephweil208/big_data_team_9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228600" y="729259"/>
            <a:ext cx="2084700" cy="2606100"/>
          </a:xfrm>
          <a:prstGeom prst="rect">
            <a:avLst/>
          </a:prstGeom>
          <a:solidFill>
            <a:srgbClr val="E8F0F5"/>
          </a:solidFill>
          <a:ln cap="flat" cmpd="sng" w="12700">
            <a:solidFill>
              <a:srgbClr val="E8F0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228600" y="729259"/>
            <a:ext cx="2084700" cy="50400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320040" y="820699"/>
            <a:ext cx="567000" cy="228600"/>
          </a:xfrm>
          <a:prstGeom prst="roundRect">
            <a:avLst>
              <a:gd fmla="val 16000" name="adj"/>
            </a:avLst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320040" y="820699"/>
            <a:ext cx="5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320040" y="1113307"/>
            <a:ext cx="190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B2A3E"/>
                </a:solidFill>
                <a:latin typeface="Calibri"/>
                <a:ea typeface="Calibri"/>
                <a:cs typeface="Calibri"/>
                <a:sym typeface="Calibri"/>
              </a:rPr>
              <a:t>IQR Outlier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B2A3E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20040" y="1661947"/>
            <a:ext cx="19020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Removes outliers with </a:t>
            </a:r>
            <a:r>
              <a:rPr lang="en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Q3 + 1.5×IQR upper bound per city</a:t>
            </a:r>
            <a:endParaRPr sz="1000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28600" y="3006115"/>
            <a:ext cx="2084700" cy="329100"/>
          </a:xfrm>
          <a:prstGeom prst="rect">
            <a:avLst/>
          </a:prstGeom>
          <a:solidFill>
            <a:srgbClr val="2E86AB">
              <a:alpha val="14900"/>
            </a:srgbClr>
          </a:solidFill>
          <a:ln cap="flat" cmpd="sng" w="12700">
            <a:solidFill>
              <a:srgbClr val="2E86AB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301752" y="3024403"/>
            <a:ext cx="197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850"/>
              <a:buFont typeface="Calibri"/>
              <a:buNone/>
            </a:pPr>
            <a:r>
              <a:rPr b="1" i="1" lang="en" sz="10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clean_listings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441448" y="729259"/>
            <a:ext cx="2084700" cy="2606100"/>
          </a:xfrm>
          <a:prstGeom prst="rect">
            <a:avLst/>
          </a:prstGeom>
          <a:solidFill>
            <a:srgbClr val="E8F0F5"/>
          </a:solidFill>
          <a:ln cap="flat" cmpd="sng" w="12700">
            <a:solidFill>
              <a:srgbClr val="E8F0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2441448" y="729259"/>
            <a:ext cx="2084700" cy="504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2532888" y="820699"/>
            <a:ext cx="567000" cy="228600"/>
          </a:xfrm>
          <a:prstGeom prst="roundRect">
            <a:avLst>
              <a:gd fmla="val 16000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2532888" y="820699"/>
            <a:ext cx="5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2532888" y="1113307"/>
            <a:ext cx="190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B2A3E"/>
                </a:solidFill>
                <a:latin typeface="Calibri"/>
                <a:ea typeface="Calibri"/>
                <a:cs typeface="Calibri"/>
                <a:sym typeface="Calibri"/>
              </a:rPr>
              <a:t>Occupancy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B2A3E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2532888" y="1661947"/>
            <a:ext cx="19020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Overall 90-day rolling</a:t>
            </a:r>
            <a:r>
              <a:rPr lang="en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endParaRPr b="0" i="0" sz="1000" u="none" cap="none" strike="noStrike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Calculate p</a:t>
            </a: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eak month per</a:t>
            </a:r>
            <a:r>
              <a:rPr lang="en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neighborhood</a:t>
            </a:r>
            <a:endParaRPr b="0" i="0" sz="1000" u="none" cap="none" strike="noStrike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rom </a:t>
            </a:r>
            <a:r>
              <a:rPr lang="en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calendar data</a:t>
            </a:r>
            <a:endParaRPr b="0" i="0" sz="1000" u="none" cap="none" strike="noStrike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441448" y="3006115"/>
            <a:ext cx="2084700" cy="329100"/>
          </a:xfrm>
          <a:prstGeom prst="rect">
            <a:avLst/>
          </a:prstGeom>
          <a:solidFill>
            <a:srgbClr val="00A896">
              <a:alpha val="14900"/>
            </a:srgbClr>
          </a:solidFill>
          <a:ln cap="flat" cmpd="sng" w="12700">
            <a:solidFill>
              <a:srgbClr val="00A896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2514600" y="3024403"/>
            <a:ext cx="197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50"/>
              <a:buFont typeface="Calibri"/>
              <a:buNone/>
            </a:pPr>
            <a:r>
              <a:rPr b="1" i="1" lang="en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occ_90d_df · peak_months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654296" y="729259"/>
            <a:ext cx="2084700" cy="2606100"/>
          </a:xfrm>
          <a:prstGeom prst="rect">
            <a:avLst/>
          </a:prstGeom>
          <a:solidFill>
            <a:srgbClr val="E8F0F5"/>
          </a:solidFill>
          <a:ln cap="flat" cmpd="sng" w="12700">
            <a:solidFill>
              <a:srgbClr val="E8F0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4654296" y="729259"/>
            <a:ext cx="2084700" cy="504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4745736" y="820699"/>
            <a:ext cx="567000" cy="228600"/>
          </a:xfrm>
          <a:prstGeom prst="roundRect">
            <a:avLst>
              <a:gd fmla="val 16000" name="adj"/>
            </a:avLst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4745736" y="820699"/>
            <a:ext cx="5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4745736" y="1113307"/>
            <a:ext cx="190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B2A3E"/>
                </a:solidFill>
                <a:latin typeface="Calibri"/>
                <a:ea typeface="Calibri"/>
                <a:cs typeface="Calibri"/>
                <a:sym typeface="Calibri"/>
              </a:rPr>
              <a:t>Competitive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B2A3E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r>
              <a:rPr b="1" lang="en" sz="1300">
                <a:solidFill>
                  <a:srgbClr val="1B2A3E"/>
                </a:solidFill>
                <a:latin typeface="Calibri"/>
                <a:ea typeface="Calibri"/>
                <a:cs typeface="Calibri"/>
                <a:sym typeface="Calibri"/>
              </a:rPr>
              <a:t> ranging from</a:t>
            </a:r>
            <a:r>
              <a:rPr b="1" i="0" lang="en" sz="1300" u="none" cap="none" strike="noStrike">
                <a:solidFill>
                  <a:srgbClr val="1B2A3E"/>
                </a:solidFill>
                <a:latin typeface="Calibri"/>
                <a:ea typeface="Calibri"/>
                <a:cs typeface="Calibri"/>
                <a:sym typeface="Calibri"/>
              </a:rPr>
              <a:t> 0–100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4745736" y="1661947"/>
            <a:ext cx="19020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Price gap % (30%)</a:t>
            </a:r>
            <a:endParaRPr b="0" i="0" sz="1000" u="none" cap="none" strike="noStrike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Amenity score (25%)</a:t>
            </a:r>
            <a:endParaRPr b="0" i="0" sz="1000" u="none" cap="none" strike="noStrike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Review rank (25%)</a:t>
            </a:r>
            <a:endParaRPr b="0" i="0" sz="1000" u="none" cap="none" strike="noStrike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Occupancy rank (20%)</a:t>
            </a:r>
            <a:endParaRPr b="0" i="0" sz="1000" u="none" cap="none" strike="noStrike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4654296" y="3006115"/>
            <a:ext cx="2084700" cy="329100"/>
          </a:xfrm>
          <a:prstGeom prst="rect">
            <a:avLst/>
          </a:prstGeom>
          <a:solidFill>
            <a:srgbClr val="F5A623">
              <a:alpha val="14900"/>
            </a:srgbClr>
          </a:solidFill>
          <a:ln cap="flat" cmpd="sng" w="12700">
            <a:solidFill>
              <a:srgbClr val="F5A623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4727448" y="3024403"/>
            <a:ext cx="197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50"/>
              <a:buFont typeface="Calibri"/>
              <a:buNone/>
            </a:pPr>
            <a:r>
              <a:rPr b="1" i="1" lang="en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listings_scored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6867144" y="729259"/>
            <a:ext cx="2084700" cy="2606100"/>
          </a:xfrm>
          <a:prstGeom prst="rect">
            <a:avLst/>
          </a:prstGeom>
          <a:solidFill>
            <a:srgbClr val="E8F0F5"/>
          </a:solidFill>
          <a:ln cap="flat" cmpd="sng" w="12700">
            <a:solidFill>
              <a:srgbClr val="E8F0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6867144" y="729259"/>
            <a:ext cx="2084700" cy="50400"/>
          </a:xfrm>
          <a:prstGeom prst="rect">
            <a:avLst/>
          </a:prstGeom>
          <a:solidFill>
            <a:srgbClr val="7B61C2"/>
          </a:solidFill>
          <a:ln cap="flat" cmpd="sng" w="12700">
            <a:solidFill>
              <a:srgbClr val="7B6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6958584" y="820699"/>
            <a:ext cx="567000" cy="228600"/>
          </a:xfrm>
          <a:prstGeom prst="roundRect">
            <a:avLst>
              <a:gd fmla="val 16000" name="adj"/>
            </a:avLst>
          </a:prstGeom>
          <a:solidFill>
            <a:srgbClr val="7B61C2"/>
          </a:solidFill>
          <a:ln cap="flat" cmpd="sng" w="12700">
            <a:solidFill>
              <a:srgbClr val="7B6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6958584" y="820699"/>
            <a:ext cx="5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6958584" y="1113307"/>
            <a:ext cx="190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B2A3E"/>
                </a:solidFill>
                <a:latin typeface="Calibri"/>
                <a:ea typeface="Calibri"/>
                <a:cs typeface="Calibri"/>
                <a:sym typeface="Calibri"/>
              </a:rPr>
              <a:t>gold_features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B2A3E"/>
                </a:solidFill>
                <a:latin typeface="Calibri"/>
                <a:ea typeface="Calibri"/>
                <a:cs typeface="Calibri"/>
                <a:sym typeface="Calibri"/>
              </a:rPr>
              <a:t>Delta 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6958584" y="1661947"/>
            <a:ext cx="19020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Join peak season data</a:t>
            </a:r>
            <a:endParaRPr b="0" i="0" sz="1000" u="none" cap="none" strike="noStrike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Format &amp; round columns</a:t>
            </a:r>
            <a:endParaRPr b="0" i="0" sz="1000" u="none" cap="none" strike="noStrike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Result power product dashboard</a:t>
            </a:r>
            <a:endParaRPr b="0" i="0" sz="1000" u="none" cap="none" strike="noStrike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6867144" y="3006115"/>
            <a:ext cx="2084700" cy="329100"/>
          </a:xfrm>
          <a:prstGeom prst="rect">
            <a:avLst/>
          </a:prstGeom>
          <a:solidFill>
            <a:srgbClr val="7B61C2">
              <a:alpha val="14900"/>
            </a:srgbClr>
          </a:solidFill>
          <a:ln cap="flat" cmpd="sng" w="12700">
            <a:solidFill>
              <a:srgbClr val="7B61C2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6940296" y="3024403"/>
            <a:ext cx="197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C2"/>
              </a:buClr>
              <a:buSzPts val="850"/>
              <a:buFont typeface="Calibri"/>
              <a:buNone/>
            </a:pPr>
            <a:r>
              <a:rPr b="1" i="1" lang="en" sz="1000" u="none" cap="none" strike="noStrike">
                <a:solidFill>
                  <a:srgbClr val="7B61C2"/>
                </a:solidFill>
                <a:latin typeface="Calibri"/>
                <a:ea typeface="Calibri"/>
                <a:cs typeface="Calibri"/>
                <a:sym typeface="Calibri"/>
              </a:rPr>
              <a:t>workspace.default.gold_features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228600" y="3481603"/>
            <a:ext cx="2679300" cy="1389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320040" y="3573043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Key Outputs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320040" y="3829075"/>
            <a:ext cx="24690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800"/>
              <a:buFont typeface="Calibri"/>
              <a:buNone/>
            </a:pPr>
            <a:r>
              <a:rPr b="1" lang="en" sz="2000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~1.95 Million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rows → gold_features</a:t>
            </a:r>
            <a:endParaRPr b="0" i="0" sz="2000" u="none" cap="none" strike="noStrike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1" i="0" lang="en" sz="11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14 engineered features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3127248" y="3481603"/>
            <a:ext cx="2889600" cy="1389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3218688" y="3573043"/>
            <a:ext cx="269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Competitive Score Formula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3218688" y="3829075"/>
            <a:ext cx="2697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Score = </a:t>
            </a:r>
            <a:r>
              <a:rPr b="1" i="0" lang="en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Price Gap×0.30</a:t>
            </a:r>
            <a:r>
              <a:rPr b="0" i="0" lang="en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Amenity×0.25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Review Rank×0.25</a:t>
            </a:r>
            <a:r>
              <a:rPr b="0" i="0" lang="en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" sz="1200" u="none" cap="none" strike="noStrike">
                <a:solidFill>
                  <a:srgbClr val="7B61C2"/>
                </a:solidFill>
                <a:latin typeface="Calibri"/>
                <a:ea typeface="Calibri"/>
                <a:cs typeface="Calibri"/>
                <a:sym typeface="Calibri"/>
              </a:rPr>
              <a:t>Occ Rank×0.20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3218688" y="4359427"/>
            <a:ext cx="2697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i="0" lang="en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&gt; 80</a:t>
            </a:r>
            <a:r>
              <a:rPr b="0" i="0" lang="en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  Market Leader</a:t>
            </a:r>
            <a:br>
              <a:rPr b="0" i="0" lang="en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40–80</a:t>
            </a:r>
            <a:r>
              <a:rPr b="0" i="0" lang="en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  Mid-tier improvements</a:t>
            </a:r>
            <a:br>
              <a:rPr b="0" i="0" lang="en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&lt; 40</a:t>
            </a:r>
            <a:r>
              <a:rPr b="0" i="0" lang="en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  Fixer-Upper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6236208" y="3481603"/>
            <a:ext cx="2679300" cy="1389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B6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6327648" y="3573043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C2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7B61C2"/>
                </a:solidFill>
                <a:latin typeface="Calibri"/>
                <a:ea typeface="Calibri"/>
                <a:cs typeface="Calibri"/>
                <a:sym typeface="Calibri"/>
              </a:rPr>
              <a:t>Technology 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6327648" y="3829075"/>
            <a:ext cx="24690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20"/>
              <a:buFont typeface="Calibri"/>
              <a:buNone/>
            </a:pPr>
            <a:r>
              <a:rPr b="1" i="0" lang="en" sz="112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PySpark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20"/>
              <a:buFont typeface="Calibri"/>
              <a:buNone/>
            </a:pPr>
            <a:r>
              <a:rPr b="0" i="0" lang="en" sz="112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Window functions, percent_rank()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20"/>
              <a:buFont typeface="Calibri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20"/>
              <a:buFont typeface="Calibri"/>
              <a:buNone/>
            </a:pPr>
            <a:r>
              <a:rPr b="1" i="0" lang="en" sz="112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Delta Lake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20"/>
              <a:buFont typeface="Calibri"/>
              <a:buNone/>
            </a:pPr>
            <a:r>
              <a:rPr b="0" i="0" lang="en" sz="112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gold_features overwrite schema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182880" y="73152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Dashboard Demo — Sample 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6429798" y="109725"/>
            <a:ext cx="25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Chicago listing #20406582 · Albany Park · Entire home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164592" y="777240"/>
            <a:ext cx="1627632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237744" y="80467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Nightly price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237744" y="98755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$98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237744" y="135331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vs $120 median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1938528" y="777240"/>
            <a:ext cx="1627632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2011680" y="80467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Price gap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2011680" y="98755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-18.3%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2011680" y="135331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Underpriced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3712464" y="777240"/>
            <a:ext cx="1627632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3785616" y="80467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Occupancy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3785616" y="98755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255 days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3785616" y="135331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69.9% rate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5486400" y="777240"/>
            <a:ext cx="1627632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5559552" y="80467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Annual revenue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5559552" y="98755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$24,990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5559552" y="135331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Estimated actual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7260336" y="777240"/>
            <a:ext cx="1627632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3E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7333488" y="80467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Revenue upside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7333488" y="98755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+$5,610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7333488" y="135331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$22 × 255 days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164592" y="1719072"/>
            <a:ext cx="8814816" cy="457200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164592" y="1719072"/>
            <a:ext cx="54864" cy="457200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292608" y="1737360"/>
            <a:ext cx="6858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You are underpriced by $22/night — costing an estimated $5,610/year in lost 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292608" y="1956816"/>
            <a:ext cx="8503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Formula: Price gap ($22) × Occupancy days (255) = $5,610/year recoverable  ·  Peak demand: August  ·  Amenity score: 43/100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164592" y="233172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4 dashboard pages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164592" y="2651760"/>
            <a:ext cx="4114800" cy="475488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164592" y="2651760"/>
            <a:ext cx="45720" cy="475488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274320" y="268833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274320" y="28895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Pricing gap · occupancy · revenue upside · NLP sentiment · reviews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164592" y="3200400"/>
            <a:ext cx="4114800" cy="475488"/>
          </a:xfrm>
          <a:prstGeom prst="rect">
            <a:avLst/>
          </a:prstGeom>
          <a:solidFill>
            <a:srgbClr val="EBF3FB"/>
          </a:solidFill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164592" y="3200400"/>
            <a:ext cx="45720" cy="475488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274320" y="323697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Pricing simulator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274320" y="343814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Drag slider → see revenue change. Revenue curve + neighbourhood histogram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164592" y="3749040"/>
            <a:ext cx="4114800" cy="475488"/>
          </a:xfrm>
          <a:prstGeom prst="rect">
            <a:avLst/>
          </a:prstGeom>
          <a:solidFill>
            <a:srgbClr val="FEF3DC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164592" y="3749040"/>
            <a:ext cx="45720" cy="47548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274320" y="378561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Health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274320" y="398678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Traffic light scorecard across 5 dimensions + neighbourhood leaderboard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164592" y="4297680"/>
            <a:ext cx="4114800" cy="475488"/>
          </a:xfrm>
          <a:prstGeom prst="rect">
            <a:avLst/>
          </a:prstGeom>
          <a:solidFill>
            <a:srgbClr val="EDE9FE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164592" y="4297680"/>
            <a:ext cx="45720" cy="47548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274320" y="433425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 advisor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274320" y="453542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LangGraph → FAISS → LLaMA 3.3 70B → 3 grounded recommendations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4572000" y="23317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Review intelligence + AI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4572000" y="2651760"/>
            <a:ext cx="2084832" cy="566928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"/>
          <p:cNvSpPr/>
          <p:nvPr/>
        </p:nvSpPr>
        <p:spPr>
          <a:xfrm>
            <a:off x="4645152" y="269748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Sentiment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4645152" y="285292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0.78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4645152" y="3072384"/>
            <a:ext cx="19202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Very Positive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6784848" y="2651760"/>
            <a:ext cx="2084832" cy="566928"/>
          </a:xfrm>
          <a:prstGeom prst="rect">
            <a:avLst/>
          </a:prstGeom>
          <a:solidFill>
            <a:srgbClr val="EBF3FB"/>
          </a:solidFill>
          <a:ln cap="flat" cmpd="sng" w="952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6858000" y="2697480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Reviews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6858000" y="285292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521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6858000" y="3072384"/>
            <a:ext cx="19202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VADER scored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4572000" y="3310128"/>
            <a:ext cx="2084832" cy="566928"/>
          </a:xfrm>
          <a:prstGeom prst="rect">
            <a:avLst/>
          </a:prstGeom>
          <a:solidFill>
            <a:srgbClr val="FEF3DC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4645152" y="33558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Top praise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4645152" y="351129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4645152" y="3730752"/>
            <a:ext cx="19202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Most mentioned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6784848" y="3310128"/>
            <a:ext cx="2084832" cy="566928"/>
          </a:xfrm>
          <a:prstGeom prst="rect">
            <a:avLst/>
          </a:prstGeom>
          <a:solidFill>
            <a:srgbClr val="FDEDEB"/>
          </a:solidFill>
          <a:ln cap="flat" cmpd="sng" w="952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6858000" y="33558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Top complaint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6858000" y="351129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Cleanliness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6858000" y="3730752"/>
            <a:ext cx="19202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Most mentioned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4572000" y="3968496"/>
            <a:ext cx="4407408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4663440" y="4005072"/>
            <a:ext cx="4206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DCAA5"/>
                </a:solidFill>
                <a:latin typeface="Calibri"/>
                <a:ea typeface="Calibri"/>
                <a:cs typeface="Calibri"/>
                <a:sym typeface="Calibri"/>
              </a:rPr>
              <a:t>LangGraph AI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4663440" y="4224528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B3C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EB3C8"/>
                </a:solidFill>
                <a:latin typeface="Calibri"/>
                <a:ea typeface="Calibri"/>
                <a:cs typeface="Calibri"/>
                <a:sym typeface="Calibri"/>
              </a:rPr>
              <a:t>retrieve context + FAISS comparables  →  LLaMA 3.3 70B analysis  →  3 grounded recommendations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4663440" y="442569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750"/>
              <a:buFont typeface="Calibri"/>
              <a:buNone/>
            </a:pPr>
            <a:r>
              <a:rPr b="0" i="1" lang="en" sz="75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Every recommendation cites exact source stats · Hallucination validator on all outputs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137160" y="4965192"/>
            <a:ext cx="8869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4AE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7A94AE"/>
                </a:solidFill>
                <a:latin typeface="Calibri"/>
                <a:ea typeface="Calibri"/>
                <a:cs typeface="Calibri"/>
                <a:sym typeface="Calibri"/>
              </a:rPr>
              <a:t>This project is created in partial fulfillment of the requirements for the Big Data Analytics course, MSBA, Carlson School of Management, University of Minnesota  ·  github.com/stephweil208/big_data_team_9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411480" y="201168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Understanding Guest Reviews at Scale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411480" y="62179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6858000" y="3200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Georgia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320040" y="1170432"/>
            <a:ext cx="2651760" cy="1417320"/>
          </a:xfrm>
          <a:prstGeom prst="rect">
            <a:avLst/>
          </a:prstGeom>
          <a:solidFill>
            <a:srgbClr val="1A2E44"/>
          </a:solidFill>
          <a:ln cap="flat" cmpd="sng" w="12700">
            <a:solidFill>
              <a:srgbClr val="1A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320040" y="1261872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3400"/>
              <a:buFont typeface="Georgia"/>
              <a:buNone/>
            </a:pPr>
            <a:r>
              <a:rPr b="1" i="0" lang="en" sz="3400" u="none" cap="none" strike="noStrike">
                <a:solidFill>
                  <a:srgbClr val="00C2A8"/>
                </a:solidFill>
                <a:latin typeface="Georgia"/>
                <a:ea typeface="Georgia"/>
                <a:cs typeface="Georgia"/>
                <a:sym typeface="Georgia"/>
              </a:rPr>
              <a:t>3 Million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320040" y="1901952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8D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8C8D8"/>
                </a:solidFill>
                <a:latin typeface="Calibri"/>
                <a:ea typeface="Calibri"/>
                <a:cs typeface="Calibri"/>
                <a:sym typeface="Calibri"/>
              </a:rPr>
              <a:t>guest reviews analyzed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8D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8C8D8"/>
                </a:solidFill>
                <a:latin typeface="Calibri"/>
                <a:ea typeface="Calibri"/>
                <a:cs typeface="Calibri"/>
                <a:sym typeface="Calibri"/>
              </a:rPr>
              <a:t>across 5 cities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320040" y="2724912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For every listing, we extract: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320040" y="3044952"/>
            <a:ext cx="2651760" cy="4937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384048" y="3090672"/>
            <a:ext cx="411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440731" y="3108966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Sentiment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431828" y="3293956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90A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090A0"/>
                </a:solidFill>
                <a:latin typeface="Calibri"/>
                <a:ea typeface="Calibri"/>
                <a:cs typeface="Calibri"/>
                <a:sym typeface="Calibri"/>
              </a:rPr>
              <a:t>Positive or negative overall?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320040" y="3611880"/>
            <a:ext cx="2651700" cy="493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-1488" y="3657600"/>
            <a:ext cx="411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437424" y="3648456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Top praise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437424" y="3858768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90A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090A0"/>
                </a:solidFill>
                <a:latin typeface="Calibri"/>
                <a:ea typeface="Calibri"/>
                <a:cs typeface="Calibri"/>
                <a:sym typeface="Calibri"/>
              </a:rPr>
              <a:t>What guests love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308701" y="4178808"/>
            <a:ext cx="2651700" cy="493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448764" y="4215384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Top complaint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448764" y="4425696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90A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7090A0"/>
                </a:solidFill>
                <a:latin typeface="Calibri"/>
                <a:ea typeface="Calibri"/>
                <a:cs typeface="Calibri"/>
                <a:sym typeface="Calibri"/>
              </a:rPr>
              <a:t>What's hurting the rating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9"/>
          <p:cNvCxnSpPr/>
          <p:nvPr/>
        </p:nvCxnSpPr>
        <p:spPr>
          <a:xfrm>
            <a:off x="3127248" y="1170432"/>
            <a:ext cx="0" cy="3749040"/>
          </a:xfrm>
          <a:prstGeom prst="straightConnector1">
            <a:avLst/>
          </a:prstGeom>
          <a:noFill/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19"/>
          <p:cNvSpPr/>
          <p:nvPr/>
        </p:nvSpPr>
        <p:spPr>
          <a:xfrm>
            <a:off x="3337560" y="117043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1A2E44"/>
                </a:solidFill>
                <a:latin typeface="Georgia"/>
                <a:ea typeface="Georgia"/>
                <a:cs typeface="Georgia"/>
                <a:sym typeface="Georgia"/>
              </a:rPr>
              <a:t>How it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3337560" y="1719072"/>
            <a:ext cx="384048" cy="384048"/>
          </a:xfrm>
          <a:prstGeom prst="ellipse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3337560" y="17190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19"/>
          <p:cNvCxnSpPr/>
          <p:nvPr/>
        </p:nvCxnSpPr>
        <p:spPr>
          <a:xfrm>
            <a:off x="3529584" y="210312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9"/>
          <p:cNvSpPr/>
          <p:nvPr/>
        </p:nvSpPr>
        <p:spPr>
          <a:xfrm>
            <a:off x="3822192" y="1682496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Clean &amp; Filter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3822192" y="1920240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7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5A70"/>
                </a:solidFill>
                <a:latin typeface="Calibri"/>
                <a:ea typeface="Calibri"/>
                <a:cs typeface="Calibri"/>
                <a:sym typeface="Calibri"/>
              </a:rPr>
              <a:t>We remove noise — keep only English reviews, strip junk 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3822192" y="2157984"/>
            <a:ext cx="4983480" cy="182880"/>
          </a:xfrm>
          <a:prstGeom prst="roundRect">
            <a:avLst>
              <a:gd fmla="val 25000" name="adj"/>
            </a:avLst>
          </a:prstGeom>
          <a:solidFill>
            <a:srgbClr val="E8F4F0"/>
          </a:solidFill>
          <a:ln cap="flat" cmpd="sng" w="12700">
            <a:solidFill>
              <a:srgbClr val="C0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"/>
          <p:cNvSpPr/>
          <p:nvPr/>
        </p:nvSpPr>
        <p:spPr>
          <a:xfrm>
            <a:off x="3858768" y="2153412"/>
            <a:ext cx="49194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6A"/>
              </a:buClr>
              <a:buSzPts val="850"/>
              <a:buFont typeface="Calibri"/>
              <a:buNone/>
            </a:pPr>
            <a:r>
              <a:rPr b="0" i="1" lang="en" sz="850" u="none" cap="none" strike="noStrike">
                <a:solidFill>
                  <a:srgbClr val="2A7A6A"/>
                </a:solidFill>
                <a:latin typeface="Calibri"/>
                <a:ea typeface="Calibri"/>
                <a:cs typeface="Calibri"/>
                <a:sym typeface="Calibri"/>
              </a:rPr>
              <a:t>🔧  PySpark · langdetect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3337560" y="2523744"/>
            <a:ext cx="384048" cy="384048"/>
          </a:xfrm>
          <a:prstGeom prst="ellipse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3337560" y="2523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9"/>
          <p:cNvCxnSpPr/>
          <p:nvPr/>
        </p:nvCxnSpPr>
        <p:spPr>
          <a:xfrm>
            <a:off x="3529584" y="2907792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3822192" y="248716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Score the Sentiment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3822192" y="2724912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7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5A70"/>
                </a:solidFill>
                <a:latin typeface="Calibri"/>
                <a:ea typeface="Calibri"/>
                <a:cs typeface="Calibri"/>
                <a:sym typeface="Calibri"/>
              </a:rPr>
              <a:t>An AI model reads each review and scores how positive or negative it 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3822192" y="2962656"/>
            <a:ext cx="4983480" cy="182880"/>
          </a:xfrm>
          <a:prstGeom prst="roundRect">
            <a:avLst>
              <a:gd fmla="val 25000" name="adj"/>
            </a:avLst>
          </a:prstGeom>
          <a:solidFill>
            <a:srgbClr val="E8F4F0"/>
          </a:solidFill>
          <a:ln cap="flat" cmpd="sng" w="12700">
            <a:solidFill>
              <a:srgbClr val="C0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3858768" y="2958084"/>
            <a:ext cx="49194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6A"/>
              </a:buClr>
              <a:buSzPts val="850"/>
              <a:buFont typeface="Calibri"/>
              <a:buNone/>
            </a:pPr>
            <a:r>
              <a:rPr b="0" i="1" lang="en" sz="850" u="none" cap="none" strike="noStrike">
                <a:solidFill>
                  <a:srgbClr val="2A7A6A"/>
                </a:solidFill>
                <a:latin typeface="Calibri"/>
                <a:ea typeface="Calibri"/>
                <a:cs typeface="Calibri"/>
                <a:sym typeface="Calibri"/>
              </a:rPr>
              <a:t>🔧  DistilBERT transformer · HuggingFace · pandas_udf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3337560" y="3328416"/>
            <a:ext cx="384048" cy="384048"/>
          </a:xfrm>
          <a:prstGeom prst="ellipse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"/>
          <p:cNvSpPr/>
          <p:nvPr/>
        </p:nvSpPr>
        <p:spPr>
          <a:xfrm>
            <a:off x="3337560" y="33284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19"/>
          <p:cNvCxnSpPr/>
          <p:nvPr/>
        </p:nvCxnSpPr>
        <p:spPr>
          <a:xfrm>
            <a:off x="3529584" y="3712464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9"/>
          <p:cNvSpPr/>
          <p:nvPr/>
        </p:nvSpPr>
        <p:spPr>
          <a:xfrm>
            <a:off x="3822192" y="3291840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Find the Themes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3822192" y="3529584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7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5A70"/>
                </a:solidFill>
                <a:latin typeface="Calibri"/>
                <a:ea typeface="Calibri"/>
                <a:cs typeface="Calibri"/>
                <a:sym typeface="Calibri"/>
              </a:rPr>
              <a:t>We detect what topics keep coming up — WiFi, cleanliness, check-in, location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3822192" y="3767328"/>
            <a:ext cx="4983480" cy="182880"/>
          </a:xfrm>
          <a:prstGeom prst="roundRect">
            <a:avLst>
              <a:gd fmla="val 25000" name="adj"/>
            </a:avLst>
          </a:prstGeom>
          <a:solidFill>
            <a:srgbClr val="E8F4F0"/>
          </a:solidFill>
          <a:ln cap="flat" cmpd="sng" w="12700">
            <a:solidFill>
              <a:srgbClr val="C0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3858768" y="3762756"/>
            <a:ext cx="49194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6A"/>
              </a:buClr>
              <a:buSzPts val="850"/>
              <a:buFont typeface="Calibri"/>
              <a:buNone/>
            </a:pPr>
            <a:r>
              <a:rPr b="0" i="1" lang="en" sz="850" u="none" cap="none" strike="noStrike">
                <a:solidFill>
                  <a:srgbClr val="2A7A6A"/>
                </a:solidFill>
                <a:latin typeface="Calibri"/>
                <a:ea typeface="Calibri"/>
                <a:cs typeface="Calibri"/>
                <a:sym typeface="Calibri"/>
              </a:rPr>
              <a:t>🔧  BERTopic · 100K-review sample · 1</a:t>
            </a:r>
            <a:r>
              <a:rPr i="1" lang="en" sz="850">
                <a:solidFill>
                  <a:srgbClr val="2A7A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" sz="850" u="none" cap="none" strike="noStrike">
                <a:solidFill>
                  <a:srgbClr val="2A7A6A"/>
                </a:solidFill>
                <a:latin typeface="Calibri"/>
                <a:ea typeface="Calibri"/>
                <a:cs typeface="Calibri"/>
                <a:sym typeface="Calibri"/>
              </a:rPr>
              <a:t> topic clusters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3337560" y="4133088"/>
            <a:ext cx="384048" cy="384048"/>
          </a:xfrm>
          <a:prstGeom prst="ellipse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3337560" y="4133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3822192" y="4096512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Power the AI Agent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3822192" y="4334256"/>
            <a:ext cx="4983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A7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3A5A70"/>
                </a:solidFill>
                <a:latin typeface="Calibri"/>
                <a:ea typeface="Calibri"/>
                <a:cs typeface="Calibri"/>
                <a:sym typeface="Calibri"/>
              </a:rPr>
              <a:t>Results power the AI agent — e.g. 'WiFi flagged in 42% of your reviews'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3822192" y="4572000"/>
            <a:ext cx="4983480" cy="182880"/>
          </a:xfrm>
          <a:prstGeom prst="roundRect">
            <a:avLst>
              <a:gd fmla="val 25000" name="adj"/>
            </a:avLst>
          </a:prstGeom>
          <a:solidFill>
            <a:srgbClr val="E8F4F0"/>
          </a:solidFill>
          <a:ln cap="flat" cmpd="sng" w="12700">
            <a:solidFill>
              <a:srgbClr val="C0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3858768" y="4567428"/>
            <a:ext cx="49194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6A"/>
              </a:buClr>
              <a:buSzPts val="850"/>
              <a:buFont typeface="Calibri"/>
              <a:buNone/>
            </a:pPr>
            <a:r>
              <a:rPr b="0" i="1" lang="en" sz="850" u="none" cap="none" strike="noStrike">
                <a:solidFill>
                  <a:srgbClr val="2A7A6A"/>
                </a:solidFill>
                <a:latin typeface="Calibri"/>
                <a:ea typeface="Calibri"/>
                <a:cs typeface="Calibri"/>
                <a:sym typeface="Calibri"/>
              </a:rPr>
              <a:t>🔧  gold_nlp_features Delta table → LangGraph agent (Phase 4)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